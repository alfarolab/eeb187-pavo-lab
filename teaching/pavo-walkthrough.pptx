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Welcome students. Today's lab is the first time we'll use a real R package to</a:t>
            </a:r>
          </a:p>
          <a:p>
            <a:r>
              <a:t>extract numbers from photographs. We'll work with 3 reef fish from 3 families,</a:t>
            </a:r>
          </a:p>
          <a:p>
            <a:r>
              <a:t>predict their pattern statistics, and then verify our predictions with pavo.</a:t>
            </a:r>
          </a:p>
          <a:p>
            <a:r>
              <a:t>After that, you'll run your own assigned fish through the same pipeline.</a:t>
            </a:r>
          </a:p>
          <a:p/>
          <a:p>
            <a:r>
              <a:t>Pacing target: this deck is ~35 slides; allow ~35 min, then 30 min of student</a:t>
            </a:r>
          </a:p>
          <a:p>
            <a:r>
              <a:t>hands-on, then 15 min wrap.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Set up the motivation. This is the first time we are doing computational</a:t>
            </a:r>
          </a:p>
          <a:p>
            <a:r>
              <a:t>analysis of color in the course. Ground students in the answer to "why are</a:t>
            </a:r>
          </a:p>
          <a:p>
            <a:r>
              <a:t>we doing this?" — words don't scale; numbers do.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Walk through each fish briefly. Don't read the family names; just let</a:t>
            </a:r>
          </a:p>
          <a:p>
            <a:r>
              <a:t>students see the visual difference. Set up the question: can numbers</a:t>
            </a:r>
          </a:p>
          <a:p>
            <a:r>
              <a:t>distinguish these patterns? Spoiler — yes, beautifully, and the metric</a:t>
            </a:r>
          </a:p>
          <a:p>
            <a:r>
              <a:t>that does it is the aspect ratio 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Make this concrete: hold up the raw cleaner wrasse — water and rock and</a:t>
            </a:r>
          </a:p>
          <a:p>
            <a:r>
              <a:t>diver bubbles all visible — and ask "if I asked pavo for the dominant</a:t>
            </a:r>
          </a:p>
          <a:p>
            <a:r>
              <a:t>colors here, what would it find?" Answer: it would find a lot of blue</a:t>
            </a:r>
          </a:p>
          <a:p>
            <a:r>
              <a:t>and white BACKGROUND, and the actual fish pattern would be diluted. The</a:t>
            </a:r>
          </a:p>
          <a:p>
            <a:r>
              <a:t>segmentation step (rembg, run before pavo touches the image) is what</a:t>
            </a:r>
          </a:p>
          <a:p>
            <a:r>
              <a:t>keeps the analysis fish-only. Demoed once on the cleaner wrasse so</a:t>
            </a:r>
          </a:p>
          <a:p>
            <a:r>
              <a:t>students see exactly what segment_fish() does.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Roadmap slide. Tell students that this is the sequence we'll cover, and that</a:t>
            </a:r>
          </a:p>
          <a:p>
            <a:r>
              <a:t>each step will get its own treatment. Stress that "adjacency" — step 3 — is</a:t>
            </a:r>
          </a:p>
          <a:p>
            <a:r>
              <a:t>the unique conceptual content; the rest is plumbing.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slide does three things at once: introduces getimg, makes the array</a:t>
            </a:r>
          </a:p>
          <a:p>
            <a:r>
              <a:t>representation explicit, and shows what the loaded image looks like. Don't</a:t>
            </a:r>
          </a:p>
          <a:p>
            <a:r>
              <a:t>spend more than a minute here — students grok this fast.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Frame the problem. The continuous-to-discrete reduction is what makes the</a:t>
            </a:r>
          </a:p>
          <a:p>
            <a:r>
              <a:t>adjacency analysis tractable. Students should hear that "classifying" is a</a:t>
            </a:r>
          </a:p>
          <a:p>
            <a:r>
              <a:t>decision the analyst makes — not something that comes from God.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Don't get into Lloyd's algorithm in detail. The single paragraph above is</a:t>
            </a:r>
          </a:p>
          <a:p>
            <a:r>
              <a:t>enough. The key takeaway is: pick k, then the algorithm assigns every pixel</a:t>
            </a:r>
          </a:p>
          <a:p>
            <a:r>
              <a:t>to one of k color classes.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Pause here. Let students see the discretization. Make the point that this</a:t>
            </a:r>
          </a:p>
          <a:p>
            <a:r>
              <a:t>is what enables the adjacency analysis — you can't count "how often</a:t>
            </a:r>
          </a:p>
          <a:p>
            <a:r>
              <a:t>RGB(127,53,89) is next to RGB(126,52,91)" because every pixel is unique.</a:t>
            </a:r>
          </a:p>
          <a:p>
            <a:r>
              <a:t>You CAN count "how often dark is next to light." That's why classify is</a:t>
            </a:r>
          </a:p>
          <a:p>
            <a:r>
              <a:t>the gateway step.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Show the toy version first, then this — students get the cartoon, then see</a:t>
            </a:r>
          </a:p>
          <a:p>
            <a:r>
              <a:t>that pavo really does this same operation on the photo. The fourth class</a:t>
            </a:r>
          </a:p>
          <a:p>
            <a:r>
              <a:t>in this k=4 run is the white background; that's a feature, not a bug, and</a:t>
            </a:r>
          </a:p>
          <a:p>
            <a:r>
              <a:t>it sets up the bkgID conversation on the next slide.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is where students will ask the inevitable "what's the right k?"</a:t>
            </a:r>
          </a:p>
          <a:p>
            <a:r>
              <a:t>question. Pre-empt it. The answer is "there isn't one; gestalt + biology;</a:t>
            </a:r>
          </a:p>
          <a:p>
            <a:r>
              <a:t>this is a JUDGMENT call and we own it." Show that pavo also has an</a:t>
            </a:r>
          </a:p>
          <a:p>
            <a:r>
              <a:t>interactive mode (interactive = TRUE) for picking class colors by hand.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is the conceptual heart of the lab. Take your time. Make the point that</a:t>
            </a:r>
          </a:p>
          <a:p>
            <a:r>
              <a:t>the grid is not analyzing the whole image — it's SAMPLING the image at</a:t>
            </a:r>
          </a:p>
          <a:p>
            <a:r>
              <a:t>regular points, and inferring pattern statistics from those samples.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Anchor the audience on what the input looks like AFTER classification but</a:t>
            </a:r>
          </a:p>
          <a:p>
            <a:r>
              <a:t>BEFORE the grid is laid 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Grid spacing is a parameter you set (xpts) — sparse grids are fast/noisy,</a:t>
            </a:r>
          </a:p>
          <a:p>
            <a:r>
              <a:t>dense grids are slow/well-resolved. pavo's default xpts = 200 places ~200</a:t>
            </a:r>
          </a:p>
          <a:p>
            <a:r>
              <a:t>points along the longest axis. Note this slide only shows the on-fish</a:t>
            </a:r>
          </a:p>
          <a:p>
            <a:r>
              <a:t>points; the next slide explains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slide answers the two most common confused-student questions:</a:t>
            </a:r>
          </a:p>
          <a:p>
            <a:r>
              <a:t>  Q1: "What about the white space around the fish?"</a:t>
            </a:r>
          </a:p>
          <a:p>
            <a:r>
              <a:t>  A1: bkgID. Show how to find the right class number — after classify(),</a:t>
            </a:r>
          </a:p>
          <a:p>
            <a:r>
              <a:t>      run summary(fish_classified) and look for the class that's</a:t>
            </a:r>
          </a:p>
          <a:p>
            <a:r>
              <a:t>      ~white (e.g. R/G/B values all &gt; 240). Pass that integer to</a:t>
            </a:r>
          </a:p>
          <a:p>
            <a:r>
              <a:t>      adjacent(bkgID = N). pavo also accepts a vector if more than one</a:t>
            </a:r>
          </a:p>
          <a:p>
            <a:r>
              <a:t>      class is background-like.</a:t>
            </a:r>
          </a:p>
          <a:p/>
          <a:p>
            <a:r>
              <a:t>  Q2: "What about pixels at the edge of the fish?"</a:t>
            </a:r>
          </a:p>
          <a:p>
            <a:r>
              <a:t>  A2: The grid only sees pixels that are NOT background (after bkgID</a:t>
            </a:r>
          </a:p>
          <a:p>
            <a:r>
              <a:t>      filtering). Edge points contribute fewer transitions, but pavo</a:t>
            </a:r>
          </a:p>
          <a:p>
            <a:r>
              <a:t>      normalizes the transition matrix by total counts, so the metrics</a:t>
            </a:r>
          </a:p>
          <a:p>
            <a:r>
              <a:t>      are weighted correctly. No edge artifact.</a:t>
            </a:r>
          </a:p>
          <a:p/>
          <a:p>
            <a:r>
              <a:t>Optional aside: pavo also supports procimg(outline = TRUE) for clicking</a:t>
            </a:r>
          </a:p>
          <a:p>
            <a:r>
              <a:t>a manual fish outline — cleaner than bkgID for fish on busy backgrounds,</a:t>
            </a:r>
          </a:p>
          <a:p>
            <a:r>
              <a:t>but more work. We use bkgID throughout this lab because rembg already</a:t>
            </a:r>
          </a:p>
          <a:p>
            <a:r>
              <a:t>gave us a clean white background.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Slow down here. This is the single most important conceptual idea in the</a:t>
            </a:r>
          </a:p>
          <a:p>
            <a:r>
              <a:t>lab. Make sure students see the focal/neighbor distinction. Optionally</a:t>
            </a:r>
          </a:p>
          <a:p>
            <a:r>
              <a:t>ask the room: what is the color of the focal? What color is each neighbor?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The 4 cardinal neighbors are the standard pavo default. Some implementations</a:t>
            </a:r>
          </a:p>
          <a:p>
            <a:r>
              <a:t>use 8 neighbors (including diagonals); pavo uses 4. Each neighbor gives one</a:t>
            </a:r>
          </a:p>
          <a:p>
            <a:r>
              <a:t>adjacency test → one entry in the transition matrix.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Walk through each adjacency by name. Make sure students understand: each</a:t>
            </a:r>
          </a:p>
          <a:p>
            <a:r>
              <a:t>adjacency contributes to ONE cell of the transition matrix. Three same-</a:t>
            </a:r>
          </a:p>
          <a:p>
            <a:r>
              <a:t>color hits go to the diagonal (mid→mid). One off-diagonal hit goes to</a:t>
            </a:r>
          </a:p>
          <a:p>
            <a:r>
              <a:t>mid→dark. That's the bookkeeping the algorithm does.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Diagonal vs off-diagonal is the conceptual hinge. Big blobs of one color =</a:t>
            </a:r>
          </a:p>
          <a:p>
            <a:r>
              <a:t>lots of diagonal mass. Lots of pattern complexity = mass distributed off</a:t>
            </a:r>
          </a:p>
          <a:p>
            <a:r>
              <a:t>the diagonal. This is the cleanest way to talk about pattern.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The matrix in this slide has one cell highlighted to show the principle.</a:t>
            </a:r>
          </a:p>
          <a:p>
            <a:r>
              <a:t>The actual matrix-fill happens after we visit ALL grid points. Be clear</a:t>
            </a:r>
          </a:p>
          <a:p>
            <a:r>
              <a:t>about this distinction.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Drive home the repetition: pavo doesn't analyze just one point — it</a:t>
            </a:r>
          </a:p>
          <a:p>
            <a:r>
              <a:t>visits all 72 (or 200, or however many) grid points, contributing 4</a:t>
            </a:r>
          </a:p>
          <a:p>
            <a:r>
              <a:t>adjacency tallies from each. So one fish image generates ~280+ adjacency</a:t>
            </a:r>
          </a:p>
          <a:p>
            <a:r>
              <a:t>tallies, all going into the same matrix 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You can see the shape of T already: most mass on diagonal (most adjacent</a:t>
            </a:r>
          </a:p>
          <a:p>
            <a:r>
              <a:t>pixels are the same color, because pattern regions are bigger than the</a:t>
            </a:r>
          </a:p>
          <a:p>
            <a:r>
              <a:t>grid spacing). Off-diagonal mass tells us about edges.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is the punchline of the grid section. Every metric we're about to</a:t>
            </a:r>
          </a:p>
          <a:p>
            <a:r>
              <a:t>introduce is just a different way of summarizing T. Same matrix, multiple</a:t>
            </a:r>
          </a:p>
          <a:p>
            <a:r>
              <a:t>descriptions of the pattern.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is where the abstraction lands: everything we just walked through —</a:t>
            </a:r>
          </a:p>
          <a:p>
            <a:r>
              <a:t>9 frames of grid + matrix mechanics — is one function call in R. That's</a:t>
            </a:r>
          </a:p>
          <a:p>
            <a:r>
              <a:t>the value of pavo.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We're focusing on these six because they're the ones in the worksheet.</a:t>
            </a:r>
          </a:p>
          <a:p>
            <a:r>
              <a:t>pavo's adjacent() actually returns ~30 columns; the other ones are</a:t>
            </a:r>
          </a:p>
          <a:p>
            <a:r>
              <a:t>variants and breakdowns of these core ideas.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m — transition density — show students the two toy fish side by side. The visual</a:t>
            </a:r>
          </a:p>
          <a:p>
            <a:r>
              <a:t>difference is dramatic. Have them tell YOU which is high and which is</a:t>
            </a:r>
          </a:p>
          <a:p>
            <a:r>
              <a:t>low before you confirm the answer. Then connect back to: this is exactly</a:t>
            </a:r>
          </a:p>
          <a:p>
            <a:r>
              <a:t>what we'll measure on the real reef fish.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— aspect ratio — show students the two toy fish side by side. The visual</a:t>
            </a:r>
          </a:p>
          <a:p>
            <a:r>
              <a:t>difference is dramatic. Have them tell YOU which is high and which is</a:t>
            </a:r>
          </a:p>
          <a:p>
            <a:r>
              <a:t>low before you confirm the answer. Then connect back to: this is exactly</a:t>
            </a:r>
          </a:p>
          <a:p>
            <a:r>
              <a:t>what we'll measure on the real reef fish.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Jc — color heterogeneity — show students the two toy fish side by side. The visual</a:t>
            </a:r>
          </a:p>
          <a:p>
            <a:r>
              <a:t>difference is dramatic. Have them tell YOU which is high and which is</a:t>
            </a:r>
          </a:p>
          <a:p>
            <a:r>
              <a:t>low before you confirm the answer. Then connect back to: this is exactly</a:t>
            </a:r>
          </a:p>
          <a:p>
            <a:r>
              <a:t>what we'll measure on the real reef fish.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m_dL — luminance boundary — show students the two toy fish side by side. The visual</a:t>
            </a:r>
          </a:p>
          <a:p>
            <a:r>
              <a:t>difference is dramatic. Have them tell YOU which is high and which is</a:t>
            </a:r>
          </a:p>
          <a:p>
            <a:r>
              <a:t>low before you confirm the answer. Then connect back to: this is exactly</a:t>
            </a:r>
          </a:p>
          <a:p>
            <a:r>
              <a:t>what we'll measure on the real reef fish.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60-second think-pair. Don't lecture during this. Wait. Then call on</a:t>
            </a:r>
          </a:p>
          <a:p>
            <a:r>
              <a:t>1-2 students to defend or challenge predictions. The mandarin is the</a:t>
            </a:r>
          </a:p>
          <a:p>
            <a:r>
              <a:t>trickiest — students may guess A != 1 because it has obvious lines, but</a:t>
            </a:r>
          </a:p>
          <a:p>
            <a:r>
              <a:t>those lines run in BOTH directions, so A should land near 1.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Cue to switch out of slides into R. Run walkthrough.R end-to-end. The</a:t>
            </a:r>
          </a:p>
          <a:p>
            <a:r>
              <a:t>script is annotated; students should be following along on their laptops.</a:t>
            </a:r>
          </a:p>
          <a:p>
            <a:r>
              <a:t>Take 15 minutes. Project the output table at the end.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30 minutes of student hands-on work. Rosamari + Michael circulate. Common</a:t>
            </a:r>
          </a:p>
          <a:p>
            <a:r>
              <a:t>struggles: choosing k (just go with their first guess and see), forgetting</a:t>
            </a:r>
          </a:p>
          <a:p>
            <a:r>
              <a:t>to load pavo (library(pavo)), wrong file path. Keep groups loose; they</a:t>
            </a:r>
          </a:p>
          <a:p>
            <a:r>
              <a:t>should help each other. The 3-fish design means students who finish their</a:t>
            </a:r>
          </a:p>
          <a:p>
            <a:r>
              <a:t>first fish quickly should immediately move to the next; tell them this.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Address the question of "what if my lineage is too uniform" head-on. Some</a:t>
            </a:r>
          </a:p>
          <a:p>
            <a:r>
              <a:t>families (Acanthuridae) are pretty pattern-uniform; some (Pomacanthidae)</a:t>
            </a:r>
          </a:p>
          <a:p>
            <a:r>
              <a:t>are wildly varied. The lab works either way — the latter just gives more</a:t>
            </a:r>
          </a:p>
          <a:p>
            <a:r>
              <a:t>striking comparisons.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is the visual scaffold for what the deliverable looks like. The</a:t>
            </a:r>
          </a:p>
          <a:p>
            <a:r>
              <a:t>example numbers shown are roughly what we'd expect from a Pomacanthidae</a:t>
            </a:r>
          </a:p>
          <a:p>
            <a:r>
              <a:t>or Chaetodontidae trio — barred angelfish, banded butterflyfish, spotted</a:t>
            </a:r>
          </a:p>
          <a:p>
            <a:r>
              <a:t>something. Don't dwell on exact values; the point is that there are 3</a:t>
            </a:r>
          </a:p>
          <a:p>
            <a:r>
              <a:t>columns and a comparison.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Recap. Then preview the next pavo session: comparative analysis across</a:t>
            </a:r>
          </a:p>
          <a:p>
            <a:r>
              <a:t>multiple species in your assigned family.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Set up the second pavo lab. Don't promise specifics — we may use FishView</a:t>
            </a:r>
          </a:p>
          <a:p>
            <a:r>
              <a:t>or a curated dataset.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C946"/>
                </a:solidFill>
                <a:latin typeface="Helvetica Neue"/>
              </a:rPr>
              <a:t>Quantifying Reef Fish Color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0F0F2"/>
                </a:solidFill>
                <a:latin typeface="Helvetica Neue"/>
              </a:rPr>
              <a:t>An Introduction to pavo  •  Lab 5  • 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AAB8"/>
                </a:solidFill>
                <a:latin typeface="Helvetica Neue"/>
              </a:rPr>
              <a:t>EEB 187 — Ecology &amp; Evolution of Color  •  Rosamari + Michael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The big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0F0F2"/>
                </a:solidFill>
                <a:latin typeface="Helvetica Neue"/>
              </a:rPr>
              <a:t>Given a fish photo, can we put numbers on its pattern?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0F0F2"/>
                </a:solidFill>
                <a:latin typeface="Helvetica Neue"/>
              </a:rPr>
              <a:t>We can describe color patterns in words — "barred," "spotted," "reticulate." But to compare species, test hypotheses, or build phylogenetic models, we need numbers we can compute and replicate.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C946"/>
                </a:solidFill>
                <a:latin typeface="Helvetica Neue"/>
              </a:rPr>
              <a:t>That is what pavo's adjacency framework gives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Today's three demo fish — three patterns, three families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rgeant-maj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645920"/>
            <a:ext cx="3429000" cy="1828800"/>
          </a:xfrm>
          <a:prstGeom prst="rect">
            <a:avLst/>
          </a:prstGeom>
        </p:spPr>
      </p:pic>
      <p:pic>
        <p:nvPicPr>
          <p:cNvPr id="5" name="Picture 4" descr="cleaner-wras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1645920"/>
            <a:ext cx="3429000" cy="1828800"/>
          </a:xfrm>
          <a:prstGeom prst="rect">
            <a:avLst/>
          </a:prstGeom>
        </p:spPr>
      </p:pic>
      <p:pic>
        <p:nvPicPr>
          <p:cNvPr id="6" name="Picture 5" descr="mandarin-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645920"/>
            <a:ext cx="34290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74903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C946"/>
                </a:solidFill>
                <a:latin typeface="Helvetica Neue"/>
              </a:rPr>
              <a:t>Sergeant major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06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3FB8AF"/>
                </a:solidFill>
                <a:latin typeface="Helvetica Neue"/>
              </a:rPr>
              <a:t>Pomacentridae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72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76C5E"/>
                </a:solidFill>
                <a:latin typeface="Helvetica Neue"/>
              </a:rPr>
              <a:t>vertical bars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74903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C946"/>
                </a:solidFill>
                <a:latin typeface="Helvetica Neue"/>
              </a:rPr>
              <a:t>Cleaner wrasse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206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3FB8AF"/>
                </a:solidFill>
                <a:latin typeface="Helvetica Neue"/>
              </a:rPr>
              <a:t>Labridae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572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76C5E"/>
                </a:solidFill>
                <a:latin typeface="Helvetica Neue"/>
              </a:rPr>
              <a:t>horizontal stripe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4903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C946"/>
                </a:solidFill>
                <a:latin typeface="Helvetica Neue"/>
              </a:rPr>
              <a:t>Mandarin fish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06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3FB8AF"/>
                </a:solidFill>
                <a:latin typeface="Helvetica Neue"/>
              </a:rPr>
              <a:t>Callionymidae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572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76C5E"/>
                </a:solidFill>
                <a:latin typeface="Helvetica Neue"/>
              </a:rPr>
              <a:t>reticulate maze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A0AAB8"/>
                </a:solidFill>
                <a:latin typeface="Helvetica Neue"/>
              </a:rPr>
              <a:t>Three fish that look different — let's see if pavo can SEE that difference in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Step 0 — Segment the fish from its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FB8AF"/>
                </a:solidFill>
                <a:latin typeface="Helvetica Neue"/>
              </a:rPr>
              <a:t>Raw photo</a:t>
            </a:r>
          </a:p>
        </p:txBody>
      </p:sp>
      <p:pic>
        <p:nvPicPr>
          <p:cNvPr id="5" name="Picture 4" descr="cleaner-wras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303520" cy="3534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76C5E"/>
                </a:solidFill>
                <a:latin typeface="Helvetica Neue"/>
              </a:rPr>
              <a:t>Segmented (background removed)</a:t>
            </a:r>
          </a:p>
        </p:txBody>
      </p:sp>
      <p:pic>
        <p:nvPicPr>
          <p:cNvPr id="7" name="Picture 6" descr="cleaner-wras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28285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segment_fish() uses rembg to isolate the animal so pavo never classifies background pixels as a color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C946"/>
                </a:solidFill>
                <a:latin typeface="Helvetica Neue"/>
              </a:rPr>
              <a:t>Without this step, k-means would find "reef-blue" or "sand" as one of your fish's color classes — and your pattern statistics would describe the photo, not the animal.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The pavo pipeline — four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3339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0F0F2"/>
                </a:solidFill>
                <a:latin typeface="Helvetica Neue"/>
              </a:rPr>
              <a:t>We're going to walk through each box in detail. The whole point is to demystify what's happening at each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946"/>
                </a:solidFill>
                <a:latin typeface="Helvetica Neue"/>
              </a:rPr>
              <a:t>Step 1 — Load the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getimg() reads JPG / PNG into a 3D array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What does pavo see when it loads an image?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An image is a 3D array of numbers:  width × height × {R, G, B}.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0AAB8"/>
                </a:solidFill>
                <a:latin typeface="Helvetica Neue"/>
              </a:rPr>
              <a:t>A 1280 × 720 photo holds 1280 × 720 × 3  ≈  2.8 million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C946"/>
                </a:solidFill>
                <a:latin typeface="Helvetica Neue"/>
              </a:rPr>
              <a:t>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212080" cy="2286000"/>
          </a:xfrm>
          <a:prstGeom prst="rect">
            <a:avLst/>
          </a:prstGeom>
          <a:solidFill>
            <a:srgbClr val="2C3E50"/>
          </a:solidFill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3FB8AF"/>
                </a:solidFill>
                <a:latin typeface="Menlo"/>
              </a:rPr>
              <a:t>library(pavo)
fish &lt;- getimg("cleaner-wrasse.jpg")
plot(fish)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C946"/>
                </a:solidFill>
                <a:latin typeface="Helvetica Neue"/>
              </a:rPr>
              <a:t>What you see</a:t>
            </a:r>
          </a:p>
        </p:txBody>
      </p:sp>
      <p:pic>
        <p:nvPicPr>
          <p:cNvPr id="9" name="Picture 8" descr="cleaner-wras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657600"/>
            <a:ext cx="502920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946"/>
                </a:solidFill>
                <a:latin typeface="Helvetica Neue"/>
              </a:rPr>
              <a:t>Step 2 — Classify the 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k-means reduces millions of unique RGB values to k color classes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Why classify? — The 16-million color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An RGB image has up to 256³ = 16.7 million possible colors per pixel.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Within one fish photo, there might be 50,000 unique RGB values.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But biologically, there are only a handful of distinct color regions — maybe 3 (yellow, black, white) or 5 (multi-band angelfish).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We need to collapse the continuous color cloud to a small, discrete palette.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That palette is the input to all the pattern statistics.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k-means in one paragraph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0F0F2"/>
                </a:solidFill>
                <a:latin typeface="Helvetica Neue"/>
              </a:rPr>
              <a:t>Pick k. Drop k random points into RGB space. For each pixel: snap to the nearest of the k points. Then move each of the k points to the centroid of the pixels assigned to it. Repeat until nothing moves. The k final points are your color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C946"/>
                </a:solidFill>
                <a:latin typeface="Helvetica Neue"/>
              </a:rPr>
              <a:t>That's what classify(img, kcols = k) does inside pavo.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2C3E50"/>
          </a:solidFill>
        </p:spPr>
        <p:txBody>
          <a:bodyPr wrap="none">
            <a:spAutoFit/>
          </a:bodyPr>
          <a:lstStyle/>
          <a:p>
            <a:r>
              <a:rPr sz="2200">
                <a:solidFill>
                  <a:srgbClr val="3FB8AF"/>
                </a:solidFill>
                <a:latin typeface="Menlo"/>
              </a:rPr>
              <a:t>fish_k3 &lt;- classify(fish, kcols = 3)
plot(fish_k3)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classify() — before and after, k = 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FB8AF"/>
                </a:solidFill>
                <a:latin typeface="Helvetica Neue"/>
              </a:rPr>
              <a:t>Before — natural variation</a:t>
            </a:r>
          </a:p>
        </p:txBody>
      </p:sp>
      <p:pic>
        <p:nvPicPr>
          <p:cNvPr id="5" name="Picture 4" descr="fish_classify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303520" cy="212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76C5E"/>
                </a:solidFill>
                <a:latin typeface="Helvetica Neue"/>
              </a:rPr>
              <a:t>After — classified to k = 3</a:t>
            </a:r>
          </a:p>
        </p:txBody>
      </p:sp>
      <p:pic>
        <p:nvPicPr>
          <p:cNvPr id="7" name="Picture 6" descr="fish_classify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5303520" cy="21214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0F0F2"/>
                </a:solidFill>
                <a:latin typeface="Helvetica Neue"/>
              </a:rPr>
              <a:t>Every pixel is now ONE of 3 color labels. The continuous color cloud has become a categorical 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classify() on a real fish — cleaner wrasse, k = 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FB8AF"/>
                </a:solidFill>
                <a:latin typeface="Helvetica Neue"/>
              </a:rPr>
              <a:t>Before — full color photograph</a:t>
            </a:r>
          </a:p>
        </p:txBody>
      </p:sp>
      <p:pic>
        <p:nvPicPr>
          <p:cNvPr id="5" name="Picture 4" descr="fish_classify_real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303520" cy="2828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76C5E"/>
                </a:solidFill>
                <a:latin typeface="Helvetica Neue"/>
              </a:rPr>
              <a:t>After — classified to k = 4</a:t>
            </a:r>
          </a:p>
        </p:txBody>
      </p:sp>
      <p:pic>
        <p:nvPicPr>
          <p:cNvPr id="7" name="Picture 6" descr="fish_classify_real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5303520" cy="28285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0F0F2"/>
                </a:solidFill>
                <a:latin typeface="Helvetica Neue"/>
              </a:rPr>
              <a:t>Same idea on a real fish. Every pixel collapses to one of 4 color labels — black mask, blue back, white belly, white background.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How do you choose 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2100">
                <a:solidFill>
                  <a:srgbClr val="F0F0F2"/>
                </a:solidFill>
                <a:latin typeface="Helvetica Neue"/>
              </a:rPr>
              <a:t>•  Eyeball it: how many distinct color regions does the fish have?</a:t>
            </a:r>
          </a:p>
          <a:p>
            <a:pPr algn="l">
              <a:spcBef>
                <a:spcPts val="600"/>
              </a:spcBef>
            </a:pPr>
            <a:r>
              <a:rPr sz="2100">
                <a:solidFill>
                  <a:srgbClr val="F0F0F2"/>
                </a:solidFill>
                <a:latin typeface="Helvetica Neue"/>
              </a:rPr>
              <a:t>•  Try k = 3, 4, 5; plot each; pick the one that looks like the biology.</a:t>
            </a:r>
          </a:p>
          <a:p>
            <a:pPr algn="l">
              <a:spcBef>
                <a:spcPts val="600"/>
              </a:spcBef>
            </a:pPr>
            <a:r>
              <a:rPr sz="2100">
                <a:solidFill>
                  <a:srgbClr val="F0F0F2"/>
                </a:solidFill>
                <a:latin typeface="Helvetica Neue"/>
              </a:rPr>
              <a:t>•  There's no single right answer — pavo respects what the analyst decides.</a:t>
            </a:r>
          </a:p>
          <a:p>
            <a:pPr algn="l">
              <a:spcBef>
                <a:spcPts val="600"/>
              </a:spcBef>
            </a:pPr>
            <a:r>
              <a:rPr sz="2100">
                <a:solidFill>
                  <a:srgbClr val="F0F0F2"/>
                </a:solidFill>
                <a:latin typeface="Helvetica Neue"/>
              </a:rPr>
              <a:t>•  For a 2-color animal (yellow tang, all-black drum), k = 2 is fine.</a:t>
            </a:r>
          </a:p>
          <a:p>
            <a:pPr algn="l">
              <a:spcBef>
                <a:spcPts val="600"/>
              </a:spcBef>
            </a:pPr>
            <a:r>
              <a:rPr sz="2100">
                <a:solidFill>
                  <a:srgbClr val="F0F0F2"/>
                </a:solidFill>
                <a:latin typeface="Helvetica Neue"/>
              </a:rPr>
              <a:t>•  For multi-band angelfish or pufferfish, you may need k = 6.</a:t>
            </a:r>
          </a:p>
          <a:p>
            <a:pPr algn="l">
              <a:spcBef>
                <a:spcPts val="600"/>
              </a:spcBef>
            </a:pPr>
            <a:r>
              <a:rPr sz="2100">
                <a:solidFill>
                  <a:srgbClr val="F0F0F2"/>
                </a:solidFill>
                <a:latin typeface="Helvetica Neue"/>
              </a:rPr>
              <a:t>•  Today: sergeant major k = 3, cleaner wrasse k = 3, mandarin k = 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946"/>
                </a:solidFill>
                <a:latin typeface="Helvetica Neue"/>
              </a:rPr>
              <a:t>Step 3 — Lay down a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The Endler 2012 idea: sample the pattern at regular points,
ask what colors are adjacent at each point.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Why a grid?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We want to summarize the pattern statistically — not pixel-by-pixel.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Endler (2012) proposed a regular grid of sampling points across the patch.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At each grid point, compare the focal pixel to its cardinal neighbors.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Tally how often color A is next to color B → a transition matrix.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Every metric pavo reports is a function of that transition matrix.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Same algorithm works on a fish, a frog, a flower, a feather. Generalizable.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0 — Start with the classified fish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sh_classify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3767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A0AAB8"/>
                </a:solidFill>
                <a:latin typeface="Helvetica Neue"/>
              </a:rPr>
              <a:t>Three color classes: dark, mid, light. No grid yet.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1 — Drop a regular grid 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_step_1_grid_overl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3767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A0AAB8"/>
                </a:solidFill>
                <a:latin typeface="Helvetica Neue"/>
              </a:rPr>
              <a:t>Grid is laid down on the FISH only. Background points are excluded (see next slide).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How pavo handles the background — and edge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_step_1b_with_droppe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583680" cy="2633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A0AAB8"/>
                </a:solidFill>
                <a:latin typeface="Helvetica Neue"/>
              </a:rPr>
              <a:t>Hollow grey rings = grid points pavo DROPS
(they fall on the white background)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946"/>
                </a:solidFill>
                <a:latin typeface="Helvetica Neue"/>
              </a:rPr>
              <a:t>bkgID  — flag the background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4572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2"/>
                </a:solidFill>
                <a:latin typeface="Helvetica Neue"/>
              </a:rPr>
              <a:t>After classify(), one of the k color classes is the white padding around the fish. Pass that class number to adjacent(bkgID = X). pavo then drops every transition that touches the bkg class — both the focal pixel and any of its neighbors that fall on background.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023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6C5E"/>
                </a:solidFill>
                <a:latin typeface="Helvetica Neue"/>
              </a:rPr>
              <a:t>Points with &lt; 4 neighbors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48056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2"/>
                </a:solidFill>
                <a:latin typeface="Helvetica Neue"/>
              </a:rPr>
              <a:t>Edge / contour points may only have 2 or 3 valid neighbors (the others fall off the body or on bkg). pavo simply tallies whatever transitions ARE valid — the matrix is then normalized to proportions, so a point with 2 neighbors contributes ½ as much weight as one with 4. No extrapolation, no padding, no fudge.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2 — Pick ONE point. Look at its 4 cardinal neighbors.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_step_2_focal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3767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Focal point — gold ring.   N, S, E, W neighbors — coral rings.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C946"/>
                </a:solidFill>
                <a:latin typeface="Helvetica Neue"/>
              </a:rPr>
              <a:t>We are going to count: what color is the focal pixel? What color is each neighbor?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3 — Zoom in on the focal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e_point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551726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C946"/>
                </a:solidFill>
                <a:latin typeface="Helvetica Neue"/>
              </a:rPr>
              <a:t>One focal pixel + 4 neighbors = 4 adjacency tests.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4 — Count the four adjacencies at THIS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C946"/>
                </a:solidFill>
                <a:latin typeface="Helvetica Neue"/>
              </a:rPr>
              <a:t>Focal color  →  Neighbor 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800"/>
              </a:spcBef>
            </a:pPr>
            <a:r>
              <a:rPr sz="2400" b="1">
                <a:solidFill>
                  <a:srgbClr val="5BC0EB"/>
                </a:solidFill>
                <a:latin typeface="Helvetica Neue"/>
              </a:rPr>
              <a:t>E neighbor:  </a:t>
            </a:r>
            <a:r>
              <a:rPr sz="2200">
                <a:solidFill>
                  <a:srgbClr val="F0F0F2"/>
                </a:solidFill>
                <a:latin typeface="Menlo"/>
              </a:rPr>
              <a:t>mid  →  mid    (same)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5BC0EB"/>
                </a:solidFill>
                <a:latin typeface="Helvetica Neue"/>
              </a:rPr>
              <a:t>W neighbor:  </a:t>
            </a:r>
            <a:r>
              <a:rPr sz="2200">
                <a:solidFill>
                  <a:srgbClr val="F0F0F2"/>
                </a:solidFill>
                <a:latin typeface="Menlo"/>
              </a:rPr>
              <a:t>mid  →  dark   (transition)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5BC0EB"/>
                </a:solidFill>
                <a:latin typeface="Helvetica Neue"/>
              </a:rPr>
              <a:t>N neighbor:  </a:t>
            </a:r>
            <a:r>
              <a:rPr sz="2200">
                <a:solidFill>
                  <a:srgbClr val="F0F0F2"/>
                </a:solidFill>
                <a:latin typeface="Menlo"/>
              </a:rPr>
              <a:t>mid  →  mid    (same)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5BC0EB"/>
                </a:solidFill>
                <a:latin typeface="Helvetica Neue"/>
              </a:rPr>
              <a:t>S neighbor:  </a:t>
            </a:r>
            <a:r>
              <a:rPr sz="2200">
                <a:solidFill>
                  <a:srgbClr val="F0F0F2"/>
                </a:solidFill>
                <a:latin typeface="Menlo"/>
              </a:rPr>
              <a:t>mid  →  mid    (same)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C946"/>
                </a:solidFill>
                <a:latin typeface="Helvetica Neue"/>
              </a:rPr>
              <a:t>Result: 1 transition (mid → dark) and 3 same-color pairs.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5 — These tallies fill in a transition matrix 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rix_step_0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55448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Rows = focal color class.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Columns = neighbor color class.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Cell T[i, j] = number of times focal color i was adjacent to neighbor color j.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Diagonal cells (T[i, i]) = same-color adjacencies (= big blobs).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Off-diagonal cells = color transitions (= edges).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6 — Increment cell T[mid, dark] for the one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rix_step_1_first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63040"/>
            <a:ext cx="5486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We're not actually incrementing T[mid, dark] = 1 yet — but conceptually, every adjacency we counted at this grid point contributes to ONE cell of 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7 — Now do this at every grid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_step_4_several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3767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8 example focal points marked in gold. Same procedure at each: focal vs 4 neighbors, contribute 4 tallies to 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8 — After several grid points, T fills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rix_step_2_par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63040"/>
            <a:ext cx="5486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Partial T after ~10 grid points. Diagonals are accumulating (same-color adjacencies). Off-diagonals starting to populate (color transitions).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Frame 9 — Full transition matrix T after all grid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rix_step_3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All 72 grid points × 4 neighbors = 288 adjacency tallies. The matrix is now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C946"/>
                </a:solidFill>
                <a:latin typeface="Helvetica Neue"/>
              </a:rPr>
              <a:t>All pattern metrics derive from THIS matrix.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All of that — in one pavo function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solidFill>
            <a:srgbClr val="2C3E50"/>
          </a:solidFill>
        </p:spPr>
        <p:txBody>
          <a:bodyPr wrap="none">
            <a:spAutoFit/>
          </a:bodyPr>
          <a:lstStyle/>
          <a:p>
            <a:r>
              <a:rPr sz="2800">
                <a:solidFill>
                  <a:srgbClr val="3FB8AF"/>
                </a:solidFill>
                <a:latin typeface="Menlo"/>
              </a:rPr>
              <a:t>fish_adj &lt;- adjacent(fish_k3,
                     xpts  = 200,
                     xscale =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C946"/>
                </a:solidFill>
                <a:latin typeface="Helvetica Neue"/>
              </a:rPr>
              <a:t>Output: a data frame of pattern statistics, computed from 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A0AAB8"/>
                </a:solidFill>
                <a:latin typeface="Helvetica Neue"/>
              </a:rPr>
              <a:t>xpts  =  number of grid points along the longest axis
xscale =  pixel-to-real-world scale (cm) — used for distance metrics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946"/>
                </a:solidFill>
                <a:latin typeface="Helvetica Neue"/>
              </a:rPr>
              <a:t>Step 4 — The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Six numbers that describe a pattern, each derived from 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The six metrics we'll focus on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2400">
                <a:solidFill>
                  <a:srgbClr val="F0F0F2"/>
                </a:solidFill>
                <a:latin typeface="Helvetica Neue"/>
              </a:rPr>
              <a:t>•  m  —  transition density (off-diagonal mass / total)</a:t>
            </a:r>
          </a:p>
          <a:p>
            <a:pPr algn="l">
              <a:spcBef>
                <a:spcPts val="600"/>
              </a:spcBef>
            </a:pPr>
            <a:r>
              <a:rPr sz="2400">
                <a:solidFill>
                  <a:srgbClr val="F0F0F2"/>
                </a:solidFill>
                <a:latin typeface="Helvetica Neue"/>
              </a:rPr>
              <a:t>•  A  —  aspect ratio (vertical transitions vs horizontal)</a:t>
            </a:r>
          </a:p>
          <a:p>
            <a:pPr algn="l">
              <a:spcBef>
                <a:spcPts val="600"/>
              </a:spcBef>
            </a:pPr>
            <a:r>
              <a:rPr sz="2400">
                <a:solidFill>
                  <a:srgbClr val="F0F0F2"/>
                </a:solidFill>
                <a:latin typeface="Helvetica Neue"/>
              </a:rPr>
              <a:t>•  Jc  —  color heterogeneity (Simpson diversity of colors)</a:t>
            </a:r>
          </a:p>
          <a:p>
            <a:pPr algn="l">
              <a:spcBef>
                <a:spcPts val="600"/>
              </a:spcBef>
            </a:pPr>
            <a:r>
              <a:rPr sz="2400">
                <a:solidFill>
                  <a:srgbClr val="F0F0F2"/>
                </a:solidFill>
                <a:latin typeface="Helvetica Neue"/>
              </a:rPr>
              <a:t>•  Jt  —  transition heterogeneity (diversity of transition types)</a:t>
            </a:r>
          </a:p>
          <a:p>
            <a:pPr algn="l">
              <a:spcBef>
                <a:spcPts val="600"/>
              </a:spcBef>
            </a:pPr>
            <a:r>
              <a:rPr sz="2400">
                <a:solidFill>
                  <a:srgbClr val="F0F0F2"/>
                </a:solidFill>
                <a:latin typeface="Helvetica Neue"/>
              </a:rPr>
              <a:t>•  m_dS  —  chromatic boundary strength (saturation step at edges)</a:t>
            </a:r>
          </a:p>
          <a:p>
            <a:pPr algn="l">
              <a:spcBef>
                <a:spcPts val="600"/>
              </a:spcBef>
            </a:pPr>
            <a:r>
              <a:rPr sz="2400">
                <a:solidFill>
                  <a:srgbClr val="F0F0F2"/>
                </a:solidFill>
                <a:latin typeface="Helvetica Neue"/>
              </a:rPr>
              <a:t>•  m_dL  —  achromatic boundary strength (luminance step at edges)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C946"/>
                </a:solidFill>
                <a:latin typeface="Helvetica Neue"/>
              </a:rPr>
              <a:t>Each one is a single number computed from 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m — transition density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_panel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224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Low m = mostly same-color neighbors → big blobs. High m = lots of color changes → busy pattern.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A — aspect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_panel_A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584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Pavo's A = (vertical transitions) / (horizontal transitions). Toy horizontal bands → A &lt; 1 (low). The real sergeant major has vertical bars → A &gt; 1 (high). Reticulate / spotted patterns sit near A ≈ 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Jc — color heterogeneity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_panel_Jc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584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Jc tracks how many color classes show up and how evenly they're used. Toy solid fish → low Jc. The real mandarin fish has many colors mixed evenly → high Jc.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m_dL — luminance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_panel_m_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230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How bright is the contrast across edges? Black-on-white = strong achromatic boundary. Two similar greens = weak.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946"/>
                </a:solidFill>
                <a:latin typeface="Helvetica Neue"/>
              </a:rPr>
              <a:t>Predict, then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Before running pavo on the three demo fish — 
what would you expect each metric to look like?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Predict — one minute, with your neighbor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dic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296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C946"/>
                </a:solidFill>
                <a:latin typeface="Helvetica Neue"/>
              </a:rPr>
              <a:t>Take 60 seconds. Discuss with your neighbor: do you agree with these predictions? Where might they be wrong?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Now run the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C946"/>
                </a:solidFill>
                <a:latin typeface="Helvetica Neue"/>
              </a:rPr>
              <a:t>Switch to RStudio.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3FB8AF"/>
                </a:solidFill>
                <a:latin typeface="Helvetica Neue"/>
              </a:rPr>
              <a:t>scripts/walkthrough.R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0F0F2"/>
                </a:solidFill>
                <a:latin typeface="Helvetica Neue"/>
              </a:rPr>
              <a:t>We'll process all three fish, build a comparison table, and check our predictions.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946"/>
                </a:solidFill>
                <a:latin typeface="Helvetica Neue"/>
              </a:rPr>
              <a:t>Now —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Pick THREE fish from your assigned lineage — three DIFFERENT pattern types.
Run all three. Compare to the demo fish.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Your assignment for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2000">
                <a:solidFill>
                  <a:srgbClr val="F0F0F2"/>
                </a:solidFill>
                <a:latin typeface="Helvetica Neue"/>
              </a:rPr>
              <a:t>•  Your group has an assigned reef fish lineage (typically a family).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F0F0F2"/>
                </a:solidFill>
                <a:latin typeface="Helvetica Neue"/>
              </a:rPr>
              <a:t>•  Pick THREE species from your lineage that look as different from each other as you can find: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F0F0F2"/>
                </a:solidFill>
                <a:latin typeface="Helvetica Neue"/>
              </a:rPr>
              <a:t>•      one with vertical bars  (you predict A &gt; 1)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F0F0F2"/>
                </a:solidFill>
                <a:latin typeface="Helvetica Neue"/>
              </a:rPr>
              <a:t>•      one with horizontal stripes or bands  (you predict A &lt; 1)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F0F0F2"/>
                </a:solidFill>
                <a:latin typeface="Helvetica Neue"/>
              </a:rPr>
              <a:t>•      one with spotty / reticulate / solid pattern  (you predict A ≈ 1)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F0F0F2"/>
                </a:solidFill>
                <a:latin typeface="Helvetica Neue"/>
              </a:rPr>
              <a:t>•  Run the full pipeline on each: getimg → classify → adjacent → summary.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F0F0F2"/>
                </a:solidFill>
                <a:latin typeface="Helvetica Neue"/>
              </a:rPr>
              <a:t>•  Compare your three A values to the demo fish you just saw.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C946"/>
                </a:solidFill>
                <a:latin typeface="Helvetica Neue"/>
              </a:rPr>
              <a:t>Did pavo's A statistic classify your fish the same way it classified the demos?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How to pick your three fish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Use whatever image source your group has been working with — FishView, FishBase, your own field photos, or the fallback folders in images/student-fish/&lt;your-lineage&gt;/.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Look at the photos before you classify. Pick three that span the widest pattern range your lineage offers.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If your lineage doesn't have all three pattern types (e.g., all surgeonfishes are vaguely solid-colored), don't force it — just pick the three with the most different patterns you can find.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REGISTER each image to LEFT-LATERAL view (head on left). If a fish is facing the wrong way, flip it horizontally with flip_to_left_lateral() or magick -flop.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F0F0F2"/>
                </a:solidFill>
                <a:latin typeface="Helvetica Neue"/>
              </a:rPr>
              <a:t>•  Talk to your group; aim for different choices across the four members so you have more data to compare in the wrap-up.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What you'll fill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C946"/>
                </a:solidFill>
                <a:latin typeface="Helvetica Neue"/>
              </a:rPr>
              <a:t>Three metric tables, plus a comparison to the demo fish.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0AAB8"/>
                </a:solidFill>
                <a:latin typeface="Helvetica Neue"/>
              </a:rPr>
              <a:t>Example: your worksheet's results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3200400"/>
          </a:xfrm>
          <a:prstGeom prst="rect">
            <a:avLst/>
          </a:prstGeom>
          <a:solidFill>
            <a:srgbClr val="2C3E50"/>
          </a:solidFill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FFC946"/>
                </a:solidFill>
                <a:latin typeface="Menlo"/>
              </a:rPr>
              <a:t>Metric                    Fish 1 (bars)             Fish 2 (stripe)           Fish 3 (reticulate)   </a:t>
            </a:r>
          </a:p>
          <a:p>
            <a:pPr algn="l"/>
            <a:r>
              <a:rPr sz="1600">
                <a:solidFill>
                  <a:srgbClr val="F0F0F2"/>
                </a:solidFill>
                <a:latin typeface="Menlo"/>
              </a:rPr>
              <a:t>k                         3                         3                         5                     </a:t>
            </a:r>
          </a:p>
          <a:p>
            <a:pPr algn="l"/>
            <a:r>
              <a:rPr sz="1600">
                <a:solidFill>
                  <a:srgbClr val="F0F0F2"/>
                </a:solidFill>
                <a:latin typeface="Menlo"/>
              </a:rPr>
              <a:t>m                         0.13                      0.07                      0.28                  </a:t>
            </a:r>
          </a:p>
          <a:p>
            <a:pPr algn="l"/>
            <a:r>
              <a:rPr sz="1600">
                <a:solidFill>
                  <a:srgbClr val="F0F0F2"/>
                </a:solidFill>
                <a:latin typeface="Menlo"/>
              </a:rPr>
              <a:t>A                         2.4                       0.45                      1.05                  </a:t>
            </a:r>
          </a:p>
          <a:p>
            <a:pPr algn="l"/>
            <a:r>
              <a:rPr sz="1600">
                <a:solidFill>
                  <a:srgbClr val="F0F0F2"/>
                </a:solidFill>
                <a:latin typeface="Menlo"/>
              </a:rPr>
              <a:t>Jc                        0.62                      0.48                      0.78                  </a:t>
            </a:r>
          </a:p>
          <a:p>
            <a:pPr algn="l"/>
            <a:r>
              <a:rPr sz="1600">
                <a:solidFill>
                  <a:srgbClr val="F0F0F2"/>
                </a:solidFill>
                <a:latin typeface="Menlo"/>
              </a:rPr>
              <a:t>m_dL                      0.55                      0.30                      0.40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0F0F2"/>
                </a:solidFill>
                <a:latin typeface="Helvetica Neue"/>
              </a:rPr>
              <a:t>Then ONE comparison question (do your fish track the demo pattern?)
and ONE biological interpretation (selection hypothesis for one fish).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946"/>
                </a:solidFill>
                <a:latin typeface="Helvetica Neue"/>
              </a:rPr>
              <a:t>Wrap-up —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0F0F2"/>
                </a:solidFill>
                <a:latin typeface="Helvetica Neue"/>
              </a:rPr>
              <a:t>Compare results across groups. Predict for next session.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What we did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Loaded reef fish photos with getimg().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Reduced millions of RGB values to k color classes with classify().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Sampled the pattern with a regular grid (Endler 2012).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Counted color transitions in a transition matrix T.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Derived 6 pattern metrics from T with adjacent().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Predicted, measured, and compared three demo fish.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Each of you ran your own assigned fish through the same pipeline.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946"/>
                </a:solidFill>
                <a:latin typeface="Helvetica Neue"/>
              </a:rPr>
              <a:t>Next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45720"/>
          </a:xfrm>
          <a:prstGeom prst="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We will run pavo on multiple species per family.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Compute a metric MATRIX — species × metric.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Cluster species by pattern. Compare to phylogeny.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F0F0F2"/>
                </a:solidFill>
                <a:latin typeface="Helvetica Neue"/>
              </a:rPr>
              <a:t>•  Ask: do related fish share patterns? Or has selection pushed lineages to different parts of pattern space?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C946"/>
                </a:solidFill>
                <a:latin typeface="Helvetica Neue"/>
              </a:rPr>
              <a:t>Today was the toolkit. Next time we use it to do biology.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C946"/>
                </a:solidFill>
                <a:latin typeface="Helvetica Neue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0F0F2"/>
                </a:solidFill>
                <a:latin typeface="Helvetica Neue"/>
              </a:rPr>
              <a:t>Submit your worksheet to BruinLearn by end of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0AAB8"/>
                </a:solidFill>
                <a:latin typeface="Helvetica Neue"/>
              </a:rPr>
              <a:t>Files: images/  •  scripts/walkthrough.R  •  lab-05-pavo-intro.qmd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